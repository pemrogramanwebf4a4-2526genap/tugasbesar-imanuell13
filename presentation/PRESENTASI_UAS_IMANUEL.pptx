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Calistoga" panose="020B0604020202020204" charset="0"/>
      <p:regular r:id="rId18"/>
    </p:embeddedFont>
    <p:embeddedFont>
      <p:font typeface="Telegraf" panose="020B0604020202020204" charset="0"/>
      <p:regular r:id="rId19"/>
    </p:embeddedFont>
    <p:embeddedFont>
      <p:font typeface="Telegraf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81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sv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0.svg"/><Relationship Id="rId7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02543" y="1988090"/>
            <a:ext cx="9282913" cy="1195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5"/>
              </a:lnSpc>
            </a:pPr>
            <a:r>
              <a:rPr lang="en-US" sz="9193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DIGITAL ZONE</a:t>
            </a:r>
          </a:p>
        </p:txBody>
      </p:sp>
      <p:sp>
        <p:nvSpPr>
          <p:cNvPr id="3" name="Freeform 3"/>
          <p:cNvSpPr/>
          <p:nvPr/>
        </p:nvSpPr>
        <p:spPr>
          <a:xfrm>
            <a:off x="-727193" y="-858385"/>
            <a:ext cx="6391275" cy="4114800"/>
          </a:xfrm>
          <a:custGeom>
            <a:avLst/>
            <a:gdLst/>
            <a:ahLst/>
            <a:cxnLst/>
            <a:rect l="l" t="t" r="r" b="b"/>
            <a:pathLst>
              <a:path w="6391275" h="4114800">
                <a:moveTo>
                  <a:pt x="0" y="0"/>
                </a:moveTo>
                <a:lnTo>
                  <a:pt x="6391275" y="0"/>
                </a:lnTo>
                <a:lnTo>
                  <a:pt x="63912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639675" y="6645679"/>
            <a:ext cx="6391275" cy="4114800"/>
          </a:xfrm>
          <a:custGeom>
            <a:avLst/>
            <a:gdLst/>
            <a:ahLst/>
            <a:cxnLst/>
            <a:rect l="l" t="t" r="r" b="b"/>
            <a:pathLst>
              <a:path w="6391275" h="4114800">
                <a:moveTo>
                  <a:pt x="63912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391275" y="0"/>
                </a:lnTo>
                <a:lnTo>
                  <a:pt x="6391275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8024555"/>
            <a:ext cx="3937799" cy="2262445"/>
          </a:xfrm>
          <a:custGeom>
            <a:avLst/>
            <a:gdLst/>
            <a:ahLst/>
            <a:cxnLst/>
            <a:rect l="l" t="t" r="r" b="b"/>
            <a:pathLst>
              <a:path w="3937799" h="2262445">
                <a:moveTo>
                  <a:pt x="0" y="0"/>
                </a:moveTo>
                <a:lnTo>
                  <a:pt x="3937799" y="0"/>
                </a:lnTo>
                <a:lnTo>
                  <a:pt x="3937799" y="2262445"/>
                </a:lnTo>
                <a:lnTo>
                  <a:pt x="0" y="22624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50201" y="0"/>
            <a:ext cx="3937799" cy="2262445"/>
          </a:xfrm>
          <a:custGeom>
            <a:avLst/>
            <a:gdLst/>
            <a:ahLst/>
            <a:cxnLst/>
            <a:rect l="l" t="t" r="r" b="b"/>
            <a:pathLst>
              <a:path w="3937799" h="2262445">
                <a:moveTo>
                  <a:pt x="3937799" y="2262445"/>
                </a:moveTo>
                <a:lnTo>
                  <a:pt x="0" y="2262445"/>
                </a:lnTo>
                <a:lnTo>
                  <a:pt x="0" y="0"/>
                </a:lnTo>
                <a:lnTo>
                  <a:pt x="3937799" y="0"/>
                </a:lnTo>
                <a:lnTo>
                  <a:pt x="3937799" y="226244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81992" y="281992"/>
            <a:ext cx="1493417" cy="1493417"/>
          </a:xfrm>
          <a:custGeom>
            <a:avLst/>
            <a:gdLst/>
            <a:ahLst/>
            <a:cxnLst/>
            <a:rect l="l" t="t" r="r" b="b"/>
            <a:pathLst>
              <a:path w="1493417" h="1493417">
                <a:moveTo>
                  <a:pt x="0" y="0"/>
                </a:moveTo>
                <a:lnTo>
                  <a:pt x="1493416" y="0"/>
                </a:lnTo>
                <a:lnTo>
                  <a:pt x="1493416" y="1493416"/>
                </a:lnTo>
                <a:lnTo>
                  <a:pt x="0" y="14934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761339" y="4474682"/>
            <a:ext cx="2765322" cy="2765322"/>
          </a:xfrm>
          <a:custGeom>
            <a:avLst/>
            <a:gdLst/>
            <a:ahLst/>
            <a:cxnLst/>
            <a:rect l="l" t="t" r="r" b="b"/>
            <a:pathLst>
              <a:path w="2765322" h="2765322">
                <a:moveTo>
                  <a:pt x="0" y="0"/>
                </a:moveTo>
                <a:lnTo>
                  <a:pt x="2765322" y="0"/>
                </a:lnTo>
                <a:lnTo>
                  <a:pt x="2765322" y="2765322"/>
                </a:lnTo>
                <a:lnTo>
                  <a:pt x="0" y="27653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220171" y="3268829"/>
            <a:ext cx="9847657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Aplikasi E-Commerce Elektronik Berbasis Web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08957" y="7523837"/>
            <a:ext cx="7870086" cy="1087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8"/>
              </a:lnSpc>
            </a:pPr>
            <a:r>
              <a:rPr lang="en-US" sz="4290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Imanuel Melandri Manik (202410715013)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6163" y="6534150"/>
            <a:ext cx="2897841" cy="4114800"/>
          </a:xfrm>
          <a:custGeom>
            <a:avLst/>
            <a:gdLst/>
            <a:ahLst/>
            <a:cxnLst/>
            <a:rect l="l" t="t" r="r" b="b"/>
            <a:pathLst>
              <a:path w="2897841" h="4114800">
                <a:moveTo>
                  <a:pt x="0" y="0"/>
                </a:moveTo>
                <a:lnTo>
                  <a:pt x="2897842" y="0"/>
                </a:lnTo>
                <a:lnTo>
                  <a:pt x="28978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052591" y="1662870"/>
            <a:ext cx="12900413" cy="4181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26"/>
              </a:lnSpc>
            </a:pP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Perkembangan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teknologi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informasi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mendorong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masyarakat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untuk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melakukan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transaksi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secara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online.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Namun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,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masih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banyak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marketplace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umum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yang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belum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menyediakan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fitur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garansi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produk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elektronik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secara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terintegrasi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  <a:p>
            <a:pPr algn="just">
              <a:lnSpc>
                <a:spcPts val="4126"/>
              </a:lnSpc>
            </a:pP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Digital Zone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dikembangkan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sebagai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aplikasi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e-commerce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berbasis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web yang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memudahkan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proses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jual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beli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produk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elektronik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sekaligus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menyediakan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sistem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garansi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,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pengelolaan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transaksi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,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serta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manajemen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pengguna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berdasarkan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role.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52591" y="400051"/>
            <a:ext cx="7287087" cy="1133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279"/>
              </a:lnSpc>
            </a:pPr>
            <a:r>
              <a:rPr lang="en-US" sz="6628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LATAR BELAKANG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-1218554" y="-408622"/>
            <a:ext cx="2897841" cy="4114800"/>
          </a:xfrm>
          <a:custGeom>
            <a:avLst/>
            <a:gdLst/>
            <a:ahLst/>
            <a:cxnLst/>
            <a:rect l="l" t="t" r="r" b="b"/>
            <a:pathLst>
              <a:path w="2897841" h="4114800">
                <a:moveTo>
                  <a:pt x="289784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897841" y="0"/>
                </a:lnTo>
                <a:lnTo>
                  <a:pt x="289784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052591" y="6448425"/>
            <a:ext cx="11568328" cy="2818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00"/>
              </a:lnSpc>
            </a:pPr>
            <a:r>
              <a:rPr lang="en-US" sz="2643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Masalah yang Diselesaikan</a:t>
            </a:r>
          </a:p>
          <a:p>
            <a:pPr marL="570624" lvl="1" indent="-285312" algn="just">
              <a:lnSpc>
                <a:spcPts val="3700"/>
              </a:lnSpc>
              <a:buFont typeface="Arial"/>
              <a:buChar char="•"/>
            </a:pPr>
            <a:r>
              <a:rPr lang="en-US" sz="264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Proses jual beli elektronik masih dilakukan secara manual.</a:t>
            </a:r>
          </a:p>
          <a:p>
            <a:pPr marL="570624" lvl="1" indent="-285312" algn="just">
              <a:lnSpc>
                <a:spcPts val="3700"/>
              </a:lnSpc>
              <a:buFont typeface="Arial"/>
              <a:buChar char="•"/>
            </a:pPr>
            <a:r>
              <a:rPr lang="en-US" sz="264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Sulit melakukan pengelolaan produk bagi penjual.</a:t>
            </a:r>
          </a:p>
          <a:p>
            <a:pPr marL="570624" lvl="1" indent="-285312" algn="just">
              <a:lnSpc>
                <a:spcPts val="3700"/>
              </a:lnSpc>
              <a:buFont typeface="Arial"/>
              <a:buChar char="•"/>
            </a:pPr>
            <a:r>
              <a:rPr lang="en-US" sz="264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Belum adanya sistem garansi yang terintegrasi.</a:t>
            </a:r>
          </a:p>
          <a:p>
            <a:pPr marL="570624" lvl="1" indent="-285312" algn="just">
              <a:lnSpc>
                <a:spcPts val="3700"/>
              </a:lnSpc>
              <a:buFont typeface="Arial"/>
              <a:buChar char="•"/>
            </a:pPr>
            <a:r>
              <a:rPr lang="en-US" sz="264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Monitoring transaksi belum terpusat.</a:t>
            </a:r>
          </a:p>
          <a:p>
            <a:pPr marL="570624" lvl="1" indent="-285312" algn="just">
              <a:lnSpc>
                <a:spcPts val="3700"/>
              </a:lnSpc>
              <a:buFont typeface="Arial"/>
              <a:buChar char="•"/>
            </a:pPr>
            <a:r>
              <a:rPr lang="en-US" sz="264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Admin membutuhkan dashboard untuk mengelola seluruh sistem.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795224"/>
            <a:ext cx="7055121" cy="542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Membuat aplikasi e-commerce berbasis web.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Menerapkan konsep CRUD.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Menerapkan sistem multirole.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Mengimplementasikan keamanan dasar aplikasi web.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Mengelola transaksi pembelian secara online.</a:t>
            </a: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ECF0F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169509" y="7033186"/>
            <a:ext cx="2396419" cy="3505400"/>
          </a:xfrm>
          <a:custGeom>
            <a:avLst/>
            <a:gdLst/>
            <a:ahLst/>
            <a:cxnLst/>
            <a:rect l="l" t="t" r="r" b="b"/>
            <a:pathLst>
              <a:path w="2396419" h="3505400">
                <a:moveTo>
                  <a:pt x="0" y="0"/>
                </a:moveTo>
                <a:lnTo>
                  <a:pt x="2396418" y="0"/>
                </a:lnTo>
                <a:lnTo>
                  <a:pt x="2396418" y="3505400"/>
                </a:lnTo>
                <a:lnTo>
                  <a:pt x="0" y="35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5891581" y="0"/>
            <a:ext cx="2396419" cy="3505400"/>
          </a:xfrm>
          <a:custGeom>
            <a:avLst/>
            <a:gdLst/>
            <a:ahLst/>
            <a:cxnLst/>
            <a:rect l="l" t="t" r="r" b="b"/>
            <a:pathLst>
              <a:path w="2396419" h="3505400">
                <a:moveTo>
                  <a:pt x="2396419" y="3505400"/>
                </a:moveTo>
                <a:lnTo>
                  <a:pt x="0" y="3505400"/>
                </a:lnTo>
                <a:lnTo>
                  <a:pt x="0" y="0"/>
                </a:lnTo>
                <a:lnTo>
                  <a:pt x="2396419" y="0"/>
                </a:lnTo>
                <a:lnTo>
                  <a:pt x="2396419" y="35054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400051"/>
            <a:ext cx="8517061" cy="1133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279"/>
              </a:lnSpc>
            </a:pPr>
            <a:r>
              <a:rPr lang="en-US" sz="6628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TUJUAN &amp; MANFAAT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206579"/>
            <a:ext cx="1895272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Tujuan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78037" y="2206579"/>
            <a:ext cx="2090950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Manfaat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45761" y="2823799"/>
            <a:ext cx="4642564" cy="2859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57"/>
              </a:lnSpc>
            </a:pPr>
            <a:r>
              <a:rPr lang="en-US" sz="2683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Pembeli</a:t>
            </a:r>
          </a:p>
          <a:p>
            <a:pPr marL="579474" lvl="1" indent="-289737" algn="just">
              <a:lnSpc>
                <a:spcPts val="3757"/>
              </a:lnSpc>
              <a:buFont typeface="Arial"/>
              <a:buChar char="•"/>
            </a:pPr>
            <a:r>
              <a:rPr lang="en-US" sz="268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Mudah membeli produk elektronik.</a:t>
            </a:r>
          </a:p>
          <a:p>
            <a:pPr marL="579474" lvl="1" indent="-289737" algn="just">
              <a:lnSpc>
                <a:spcPts val="3757"/>
              </a:lnSpc>
              <a:buFont typeface="Arial"/>
              <a:buChar char="•"/>
            </a:pPr>
            <a:r>
              <a:rPr lang="en-US" sz="268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Dapat melakukan review produk.</a:t>
            </a:r>
          </a:p>
          <a:p>
            <a:pPr marL="579474" lvl="1" indent="-289737" algn="just">
              <a:lnSpc>
                <a:spcPts val="3757"/>
              </a:lnSpc>
              <a:buFont typeface="Arial"/>
              <a:buChar char="•"/>
            </a:pPr>
            <a:r>
              <a:rPr lang="en-US" sz="268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Melihat status pesanan.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45761" y="6098955"/>
            <a:ext cx="3580314" cy="287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57"/>
              </a:lnSpc>
            </a:pPr>
            <a:r>
              <a:rPr lang="en-US" sz="2683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Penjual</a:t>
            </a:r>
          </a:p>
          <a:p>
            <a:pPr marL="579475" lvl="1" indent="-289737" algn="just">
              <a:lnSpc>
                <a:spcPts val="3757"/>
              </a:lnSpc>
              <a:buFont typeface="Arial"/>
              <a:buChar char="•"/>
            </a:pPr>
            <a:r>
              <a:rPr lang="en-US" sz="268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Mengelola produk.</a:t>
            </a:r>
          </a:p>
          <a:p>
            <a:pPr marL="579475" lvl="1" indent="-289737" algn="just">
              <a:lnSpc>
                <a:spcPts val="3757"/>
              </a:lnSpc>
              <a:buFont typeface="Arial"/>
              <a:buChar char="•"/>
            </a:pPr>
            <a:r>
              <a:rPr lang="en-US" sz="268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Mengelola pesanan.</a:t>
            </a:r>
          </a:p>
          <a:p>
            <a:pPr marL="579475" lvl="1" indent="-289737" algn="just">
              <a:lnSpc>
                <a:spcPts val="3757"/>
              </a:lnSpc>
              <a:buFont typeface="Arial"/>
              <a:buChar char="•"/>
            </a:pPr>
            <a:r>
              <a:rPr lang="en-US" sz="268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Melihat dashboard penjualan.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62848" y="6098955"/>
            <a:ext cx="3496452" cy="287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57"/>
              </a:lnSpc>
            </a:pPr>
            <a:r>
              <a:rPr lang="en-US" sz="2683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Admin</a:t>
            </a:r>
          </a:p>
          <a:p>
            <a:pPr marL="579475" lvl="1" indent="-289737" algn="just">
              <a:lnSpc>
                <a:spcPts val="3757"/>
              </a:lnSpc>
              <a:buFont typeface="Arial"/>
              <a:buChar char="•"/>
            </a:pPr>
            <a:r>
              <a:rPr lang="en-US" sz="268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Mengelola seluruh sistem.</a:t>
            </a:r>
          </a:p>
          <a:p>
            <a:pPr marL="579475" lvl="1" indent="-289737" algn="just">
              <a:lnSpc>
                <a:spcPts val="3757"/>
              </a:lnSpc>
              <a:buFont typeface="Arial"/>
              <a:buChar char="•"/>
            </a:pPr>
            <a:r>
              <a:rPr lang="en-US" sz="268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Verifikasi seller.</a:t>
            </a:r>
          </a:p>
          <a:p>
            <a:pPr marL="579475" lvl="1" indent="-289737" algn="just">
              <a:lnSpc>
                <a:spcPts val="3757"/>
              </a:lnSpc>
              <a:buFont typeface="Arial"/>
              <a:buChar char="•"/>
            </a:pPr>
            <a:r>
              <a:rPr lang="en-US" sz="268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Verifikasi pembayaran.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04013" y="3357288"/>
            <a:ext cx="5138027" cy="450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51"/>
              </a:lnSpc>
            </a:pPr>
            <a:r>
              <a:rPr lang="en-US" sz="2822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Buyer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Register &amp; Login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Cari Produk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Filter Produk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Cart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Checkout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Upload Bukti Pembayaran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Review Produk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Tracking Pesanan</a:t>
            </a:r>
          </a:p>
        </p:txBody>
      </p:sp>
      <p:sp>
        <p:nvSpPr>
          <p:cNvPr id="3" name="Freeform 3"/>
          <p:cNvSpPr/>
          <p:nvPr/>
        </p:nvSpPr>
        <p:spPr>
          <a:xfrm>
            <a:off x="-727193" y="-858385"/>
            <a:ext cx="4300404" cy="2768666"/>
          </a:xfrm>
          <a:custGeom>
            <a:avLst/>
            <a:gdLst/>
            <a:ahLst/>
            <a:cxnLst/>
            <a:rect l="l" t="t" r="r" b="b"/>
            <a:pathLst>
              <a:path w="4300404" h="2768666">
                <a:moveTo>
                  <a:pt x="0" y="0"/>
                </a:moveTo>
                <a:lnTo>
                  <a:pt x="4300404" y="0"/>
                </a:lnTo>
                <a:lnTo>
                  <a:pt x="4300404" y="2768666"/>
                </a:lnTo>
                <a:lnTo>
                  <a:pt x="0" y="2768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8903479"/>
            <a:ext cx="2408026" cy="1383521"/>
          </a:xfrm>
          <a:custGeom>
            <a:avLst/>
            <a:gdLst/>
            <a:ahLst/>
            <a:cxnLst/>
            <a:rect l="l" t="t" r="r" b="b"/>
            <a:pathLst>
              <a:path w="2408026" h="1383521">
                <a:moveTo>
                  <a:pt x="0" y="0"/>
                </a:moveTo>
                <a:lnTo>
                  <a:pt x="2408026" y="0"/>
                </a:lnTo>
                <a:lnTo>
                  <a:pt x="2408026" y="1383521"/>
                </a:lnTo>
                <a:lnTo>
                  <a:pt x="0" y="13835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492421" y="8439507"/>
            <a:ext cx="4300404" cy="2768666"/>
          </a:xfrm>
          <a:custGeom>
            <a:avLst/>
            <a:gdLst/>
            <a:ahLst/>
            <a:cxnLst/>
            <a:rect l="l" t="t" r="r" b="b"/>
            <a:pathLst>
              <a:path w="4300404" h="2768666">
                <a:moveTo>
                  <a:pt x="4300404" y="2768666"/>
                </a:moveTo>
                <a:lnTo>
                  <a:pt x="0" y="2768666"/>
                </a:lnTo>
                <a:lnTo>
                  <a:pt x="0" y="0"/>
                </a:lnTo>
                <a:lnTo>
                  <a:pt x="4300404" y="0"/>
                </a:lnTo>
                <a:lnTo>
                  <a:pt x="4300404" y="27686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5879974" y="0"/>
            <a:ext cx="2408026" cy="1383521"/>
          </a:xfrm>
          <a:custGeom>
            <a:avLst/>
            <a:gdLst/>
            <a:ahLst/>
            <a:cxnLst/>
            <a:rect l="l" t="t" r="r" b="b"/>
            <a:pathLst>
              <a:path w="2408026" h="1383521">
                <a:moveTo>
                  <a:pt x="2408026" y="1383521"/>
                </a:moveTo>
                <a:lnTo>
                  <a:pt x="0" y="1383521"/>
                </a:lnTo>
                <a:lnTo>
                  <a:pt x="0" y="0"/>
                </a:lnTo>
                <a:lnTo>
                  <a:pt x="2408026" y="0"/>
                </a:lnTo>
                <a:lnTo>
                  <a:pt x="2408026" y="13835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131610" y="794501"/>
            <a:ext cx="5693711" cy="1133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279"/>
              </a:lnSpc>
            </a:pPr>
            <a:r>
              <a:rPr lang="en-US" sz="6628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FITUR UTAMA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589026"/>
            <a:ext cx="2467814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Role User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61173" y="3370037"/>
            <a:ext cx="5305751" cy="2500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51"/>
              </a:lnSpc>
            </a:pPr>
            <a:r>
              <a:rPr lang="en-US" sz="2822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Seller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Dashboard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CRUD Produk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Kelola Pesanan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Update Status Pengiriman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686056" y="3370037"/>
            <a:ext cx="3956567" cy="3490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51"/>
              </a:lnSpc>
            </a:pPr>
            <a:r>
              <a:rPr lang="en-US" sz="2822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Admin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Dashboard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Manage User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Verifikasi Seller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Manage Produk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Manage Pesanan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System Settings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6163" y="6534150"/>
            <a:ext cx="2897841" cy="4114800"/>
          </a:xfrm>
          <a:custGeom>
            <a:avLst/>
            <a:gdLst/>
            <a:ahLst/>
            <a:cxnLst/>
            <a:rect l="l" t="t" r="r" b="b"/>
            <a:pathLst>
              <a:path w="2897841" h="4114800">
                <a:moveTo>
                  <a:pt x="0" y="0"/>
                </a:moveTo>
                <a:lnTo>
                  <a:pt x="2897842" y="0"/>
                </a:lnTo>
                <a:lnTo>
                  <a:pt x="28978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1218554" y="-408622"/>
            <a:ext cx="2897841" cy="4114800"/>
          </a:xfrm>
          <a:custGeom>
            <a:avLst/>
            <a:gdLst/>
            <a:ahLst/>
            <a:cxnLst/>
            <a:rect l="l" t="t" r="r" b="b"/>
            <a:pathLst>
              <a:path w="2897841" h="4114800">
                <a:moveTo>
                  <a:pt x="289784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897841" y="0"/>
                </a:lnTo>
                <a:lnTo>
                  <a:pt x="289784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55587" y="4381500"/>
            <a:ext cx="5950014" cy="1086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9279"/>
              </a:lnSpc>
            </a:pPr>
            <a:r>
              <a:rPr lang="en-US" sz="4400" dirty="0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ARSITEKTUR SISTEM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1657CB2-1980-8313-7B8C-AEB674B6C79F}"/>
              </a:ext>
            </a:extLst>
          </p:cNvPr>
          <p:cNvGrpSpPr/>
          <p:nvPr/>
        </p:nvGrpSpPr>
        <p:grpSpPr>
          <a:xfrm>
            <a:off x="7747247" y="193540"/>
            <a:ext cx="2330332" cy="2412388"/>
            <a:chOff x="1936041" y="2457209"/>
            <a:chExt cx="1815781" cy="214516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7DC4B1A-3DB2-E0AB-41DA-536472DE804F}"/>
                </a:ext>
              </a:extLst>
            </p:cNvPr>
            <p:cNvSpPr/>
            <p:nvPr/>
          </p:nvSpPr>
          <p:spPr>
            <a:xfrm>
              <a:off x="1936041" y="2457210"/>
              <a:ext cx="1815781" cy="2145165"/>
            </a:xfrm>
            <a:prstGeom prst="round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7" name="TextBox 3">
              <a:extLst>
                <a:ext uri="{FF2B5EF4-FFF2-40B4-BE49-F238E27FC236}">
                  <a16:creationId xmlns:a16="http://schemas.microsoft.com/office/drawing/2014/main" id="{1D9D9E89-0D84-7481-20CE-03443667A3A2}"/>
                </a:ext>
              </a:extLst>
            </p:cNvPr>
            <p:cNvSpPr txBox="1"/>
            <p:nvPr/>
          </p:nvSpPr>
          <p:spPr>
            <a:xfrm>
              <a:off x="2251573" y="2457209"/>
              <a:ext cx="1378901" cy="19647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4126"/>
                </a:lnSpc>
              </a:pPr>
              <a:r>
                <a:rPr lang="en-US" sz="1600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CLIENT LAYER</a:t>
              </a:r>
            </a:p>
            <a:p>
              <a:pPr algn="just"/>
              <a:endParaRPr lang="en-US" sz="1600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algn="just">
                <a:lnSpc>
                  <a:spcPct val="150000"/>
                </a:lnSpc>
              </a:pPr>
              <a:r>
                <a:rPr lang="en-ID" sz="1600" dirty="0"/>
                <a:t>👤</a:t>
              </a:r>
              <a:r>
                <a:rPr lang="en-US" sz="1600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Buyer</a:t>
              </a:r>
            </a:p>
            <a:p>
              <a:pPr algn="just">
                <a:lnSpc>
                  <a:spcPct val="150000"/>
                </a:lnSpc>
              </a:pPr>
              <a:r>
                <a:rPr lang="en-ID" sz="1600" dirty="0"/>
                <a:t>👨‍💼 </a:t>
              </a:r>
              <a:r>
                <a:rPr lang="en-US" sz="1600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Seller</a:t>
              </a:r>
            </a:p>
            <a:p>
              <a:pPr algn="just">
                <a:lnSpc>
                  <a:spcPct val="150000"/>
                </a:lnSpc>
              </a:pPr>
              <a:r>
                <a:rPr lang="en-ID" sz="1600" dirty="0"/>
                <a:t>👨‍💻 </a:t>
              </a:r>
              <a:r>
                <a:rPr lang="en-US" sz="1600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Admin</a:t>
              </a:r>
            </a:p>
            <a:p>
              <a:pPr algn="just">
                <a:lnSpc>
                  <a:spcPct val="150000"/>
                </a:lnSpc>
              </a:pPr>
              <a:r>
                <a:rPr lang="en-ID" sz="1600" dirty="0"/>
                <a:t>🌐</a:t>
              </a:r>
              <a:r>
                <a:rPr lang="en-US" sz="1600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Browser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0ACC02E-336E-EAAE-4397-3F5D9C77F1F7}"/>
              </a:ext>
            </a:extLst>
          </p:cNvPr>
          <p:cNvGrpSpPr/>
          <p:nvPr/>
        </p:nvGrpSpPr>
        <p:grpSpPr>
          <a:xfrm>
            <a:off x="7397251" y="3467100"/>
            <a:ext cx="3030321" cy="3360143"/>
            <a:chOff x="6137171" y="5580245"/>
            <a:chExt cx="2511526" cy="283985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D1A8A58-AEA9-205E-7686-6AB20631C922}"/>
                </a:ext>
              </a:extLst>
            </p:cNvPr>
            <p:cNvSpPr/>
            <p:nvPr/>
          </p:nvSpPr>
          <p:spPr>
            <a:xfrm>
              <a:off x="6137171" y="5580245"/>
              <a:ext cx="2511526" cy="2839855"/>
            </a:xfrm>
            <a:prstGeom prst="round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9" name="TextBox 3">
              <a:extLst>
                <a:ext uri="{FF2B5EF4-FFF2-40B4-BE49-F238E27FC236}">
                  <a16:creationId xmlns:a16="http://schemas.microsoft.com/office/drawing/2014/main" id="{3DB536F1-4B00-4D94-20EA-9FFDBAB576D2}"/>
                </a:ext>
              </a:extLst>
            </p:cNvPr>
            <p:cNvSpPr txBox="1"/>
            <p:nvPr/>
          </p:nvSpPr>
          <p:spPr>
            <a:xfrm>
              <a:off x="6453980" y="5625600"/>
              <a:ext cx="2095426" cy="27491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4126"/>
                </a:lnSpc>
              </a:pPr>
              <a:r>
                <a:rPr lang="en-US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APPLICATION LAYER</a:t>
              </a:r>
            </a:p>
            <a:p>
              <a:pPr algn="just"/>
              <a:endParaRPr lang="en-US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dirty="0" err="1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Laragon</a:t>
              </a:r>
              <a:endParaRPr lang="en-US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PHP Native</a:t>
              </a:r>
            </a:p>
            <a:p>
              <a:pPr algn="just">
                <a:lnSpc>
                  <a:spcPct val="150000"/>
                </a:lnSpc>
              </a:pPr>
              <a:r>
                <a:rPr lang="en-US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Bootstrap 5</a:t>
              </a:r>
            </a:p>
            <a:p>
              <a:pPr algn="just">
                <a:lnSpc>
                  <a:spcPct val="150000"/>
                </a:lnSpc>
              </a:pPr>
              <a:r>
                <a:rPr lang="en-US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MVC</a:t>
              </a:r>
            </a:p>
            <a:p>
              <a:pPr algn="just">
                <a:lnSpc>
                  <a:spcPct val="150000"/>
                </a:lnSpc>
              </a:pPr>
              <a:r>
                <a:rPr lang="en-US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JavaScript</a:t>
              </a:r>
            </a:p>
            <a:p>
              <a:pPr algn="just">
                <a:lnSpc>
                  <a:spcPct val="150000"/>
                </a:lnSpc>
              </a:pPr>
              <a:r>
                <a:rPr lang="en-US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AJAX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003922-F9E8-1AE7-EE25-905AC6C31B83}"/>
              </a:ext>
            </a:extLst>
          </p:cNvPr>
          <p:cNvGrpSpPr/>
          <p:nvPr/>
        </p:nvGrpSpPr>
        <p:grpSpPr>
          <a:xfrm>
            <a:off x="7544355" y="7760312"/>
            <a:ext cx="2736115" cy="2412388"/>
            <a:chOff x="11741885" y="2273912"/>
            <a:chExt cx="2736115" cy="241238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D845713-4EA2-4D3B-5179-98B461377FB7}"/>
                </a:ext>
              </a:extLst>
            </p:cNvPr>
            <p:cNvSpPr/>
            <p:nvPr/>
          </p:nvSpPr>
          <p:spPr>
            <a:xfrm>
              <a:off x="11741885" y="2273912"/>
              <a:ext cx="2736115" cy="2412388"/>
            </a:xfrm>
            <a:prstGeom prst="round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1" name="TextBox 3">
              <a:extLst>
                <a:ext uri="{FF2B5EF4-FFF2-40B4-BE49-F238E27FC236}">
                  <a16:creationId xmlns:a16="http://schemas.microsoft.com/office/drawing/2014/main" id="{0C777474-6AA8-6375-1493-F425EAF379B3}"/>
                </a:ext>
              </a:extLst>
            </p:cNvPr>
            <p:cNvSpPr txBox="1"/>
            <p:nvPr/>
          </p:nvSpPr>
          <p:spPr>
            <a:xfrm>
              <a:off x="12037627" y="2362783"/>
              <a:ext cx="2318752" cy="217085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4126"/>
                </a:lnSpc>
              </a:pPr>
              <a:r>
                <a:rPr lang="en-US" sz="2000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DATABASE LAYER</a:t>
              </a:r>
            </a:p>
            <a:p>
              <a:pPr algn="just"/>
              <a:endParaRPr lang="en-US" sz="2000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sz="2000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MySQL</a:t>
              </a:r>
            </a:p>
            <a:p>
              <a:pPr algn="just">
                <a:lnSpc>
                  <a:spcPct val="150000"/>
                </a:lnSpc>
              </a:pPr>
              <a:r>
                <a:rPr lang="en-US" sz="2000" dirty="0" err="1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electrshop_db</a:t>
              </a:r>
              <a:endParaRPr lang="en-US" sz="2000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sz="2000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11 Tables</a:t>
              </a: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F3C23F2-5A89-0D4D-292B-7C90A666871F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912413" y="2605928"/>
            <a:ext cx="0" cy="8611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67524F0-907B-3DC8-604B-3923247AF927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8912412" y="6827243"/>
            <a:ext cx="1" cy="9070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3">
            <a:extLst>
              <a:ext uri="{FF2B5EF4-FFF2-40B4-BE49-F238E27FC236}">
                <a16:creationId xmlns:a16="http://schemas.microsoft.com/office/drawing/2014/main" id="{0660A8BE-09E1-D931-20F0-B828B26FD3AB}"/>
              </a:ext>
            </a:extLst>
          </p:cNvPr>
          <p:cNvSpPr txBox="1"/>
          <p:nvPr/>
        </p:nvSpPr>
        <p:spPr>
          <a:xfrm>
            <a:off x="9144000" y="2691049"/>
            <a:ext cx="1652532" cy="462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126"/>
              </a:lnSpc>
            </a:pPr>
            <a:r>
              <a:rPr lang="en-ID" sz="2000" dirty="0">
                <a:solidFill>
                  <a:schemeClr val="bg1"/>
                </a:solidFill>
              </a:rPr>
              <a:t>HTTP Request</a:t>
            </a:r>
            <a:endParaRPr lang="en-US" sz="2000" dirty="0">
              <a:solidFill>
                <a:schemeClr val="bg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4B25E257-C252-02D0-3D16-6F48ABB3DDEE}"/>
              </a:ext>
            </a:extLst>
          </p:cNvPr>
          <p:cNvSpPr txBox="1"/>
          <p:nvPr/>
        </p:nvSpPr>
        <p:spPr>
          <a:xfrm>
            <a:off x="9144000" y="6916114"/>
            <a:ext cx="1264134" cy="462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126"/>
              </a:lnSpc>
            </a:pPr>
            <a:r>
              <a:rPr lang="en-ID" sz="2000" dirty="0">
                <a:solidFill>
                  <a:schemeClr val="bg1"/>
                </a:solidFill>
              </a:rPr>
              <a:t>SQL Query</a:t>
            </a:r>
            <a:endParaRPr lang="en-US" sz="2000" dirty="0">
              <a:solidFill>
                <a:schemeClr val="bg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98209" y="6846470"/>
            <a:ext cx="2396419" cy="3505400"/>
          </a:xfrm>
          <a:custGeom>
            <a:avLst/>
            <a:gdLst/>
            <a:ahLst/>
            <a:cxnLst/>
            <a:rect l="l" t="t" r="r" b="b"/>
            <a:pathLst>
              <a:path w="2396419" h="3505400">
                <a:moveTo>
                  <a:pt x="0" y="0"/>
                </a:moveTo>
                <a:lnTo>
                  <a:pt x="2396418" y="0"/>
                </a:lnTo>
                <a:lnTo>
                  <a:pt x="2396418" y="3505400"/>
                </a:lnTo>
                <a:lnTo>
                  <a:pt x="0" y="35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590430" y="-1422849"/>
            <a:ext cx="2396419" cy="3505400"/>
          </a:xfrm>
          <a:custGeom>
            <a:avLst/>
            <a:gdLst/>
            <a:ahLst/>
            <a:cxnLst/>
            <a:rect l="l" t="t" r="r" b="b"/>
            <a:pathLst>
              <a:path w="2396419" h="3505400">
                <a:moveTo>
                  <a:pt x="2396419" y="3505400"/>
                </a:moveTo>
                <a:lnTo>
                  <a:pt x="0" y="3505400"/>
                </a:lnTo>
                <a:lnTo>
                  <a:pt x="0" y="0"/>
                </a:lnTo>
                <a:lnTo>
                  <a:pt x="2396419" y="0"/>
                </a:lnTo>
                <a:lnTo>
                  <a:pt x="2396419" y="35054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5329" y="876300"/>
            <a:ext cx="14865101" cy="9253526"/>
          </a:xfrm>
          <a:custGeom>
            <a:avLst/>
            <a:gdLst/>
            <a:ahLst/>
            <a:cxnLst/>
            <a:rect l="l" t="t" r="r" b="b"/>
            <a:pathLst>
              <a:path w="14865101" h="9253526">
                <a:moveTo>
                  <a:pt x="0" y="0"/>
                </a:moveTo>
                <a:lnTo>
                  <a:pt x="14865101" y="0"/>
                </a:lnTo>
                <a:lnTo>
                  <a:pt x="14865101" y="9253526"/>
                </a:lnTo>
                <a:lnTo>
                  <a:pt x="0" y="92535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60976" y="82201"/>
            <a:ext cx="5605030" cy="794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423"/>
              </a:lnSpc>
            </a:pPr>
            <a:r>
              <a:rPr lang="en-US" sz="4587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DATABASE SCHEMA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769778"/>
            <a:ext cx="3338026" cy="362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 dirty="0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Frontend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HTML5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CSS3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Bootstrap 5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JavaScript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AJAX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97713" y="1230196"/>
            <a:ext cx="5237363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sz="7200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TEKNOLOGI</a:t>
            </a:r>
          </a:p>
        </p:txBody>
      </p:sp>
      <p:sp>
        <p:nvSpPr>
          <p:cNvPr id="4" name="Freeform 4"/>
          <p:cNvSpPr/>
          <p:nvPr/>
        </p:nvSpPr>
        <p:spPr>
          <a:xfrm>
            <a:off x="-727193" y="-858385"/>
            <a:ext cx="4300404" cy="2768666"/>
          </a:xfrm>
          <a:custGeom>
            <a:avLst/>
            <a:gdLst/>
            <a:ahLst/>
            <a:cxnLst/>
            <a:rect l="l" t="t" r="r" b="b"/>
            <a:pathLst>
              <a:path w="4300404" h="2768666">
                <a:moveTo>
                  <a:pt x="0" y="0"/>
                </a:moveTo>
                <a:lnTo>
                  <a:pt x="4300404" y="0"/>
                </a:lnTo>
                <a:lnTo>
                  <a:pt x="4300404" y="2768666"/>
                </a:lnTo>
                <a:lnTo>
                  <a:pt x="0" y="2768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8903479"/>
            <a:ext cx="2408026" cy="1383521"/>
          </a:xfrm>
          <a:custGeom>
            <a:avLst/>
            <a:gdLst/>
            <a:ahLst/>
            <a:cxnLst/>
            <a:rect l="l" t="t" r="r" b="b"/>
            <a:pathLst>
              <a:path w="2408026" h="1383521">
                <a:moveTo>
                  <a:pt x="0" y="0"/>
                </a:moveTo>
                <a:lnTo>
                  <a:pt x="2408026" y="0"/>
                </a:lnTo>
                <a:lnTo>
                  <a:pt x="2408026" y="1383521"/>
                </a:lnTo>
                <a:lnTo>
                  <a:pt x="0" y="13835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492421" y="8439507"/>
            <a:ext cx="4300404" cy="2768666"/>
          </a:xfrm>
          <a:custGeom>
            <a:avLst/>
            <a:gdLst/>
            <a:ahLst/>
            <a:cxnLst/>
            <a:rect l="l" t="t" r="r" b="b"/>
            <a:pathLst>
              <a:path w="4300404" h="2768666">
                <a:moveTo>
                  <a:pt x="4300404" y="2768666"/>
                </a:moveTo>
                <a:lnTo>
                  <a:pt x="0" y="2768666"/>
                </a:lnTo>
                <a:lnTo>
                  <a:pt x="0" y="0"/>
                </a:lnTo>
                <a:lnTo>
                  <a:pt x="4300404" y="0"/>
                </a:lnTo>
                <a:lnTo>
                  <a:pt x="4300404" y="27686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5879974" y="0"/>
            <a:ext cx="2408026" cy="1383521"/>
          </a:xfrm>
          <a:custGeom>
            <a:avLst/>
            <a:gdLst/>
            <a:ahLst/>
            <a:cxnLst/>
            <a:rect l="l" t="t" r="r" b="b"/>
            <a:pathLst>
              <a:path w="2408026" h="1383521">
                <a:moveTo>
                  <a:pt x="2408026" y="1383521"/>
                </a:moveTo>
                <a:lnTo>
                  <a:pt x="0" y="1383521"/>
                </a:lnTo>
                <a:lnTo>
                  <a:pt x="0" y="0"/>
                </a:lnTo>
                <a:lnTo>
                  <a:pt x="2408026" y="0"/>
                </a:lnTo>
                <a:lnTo>
                  <a:pt x="2408026" y="13835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194541" y="2769778"/>
            <a:ext cx="3804751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Backend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PHP Native 8.x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27967" y="2769778"/>
            <a:ext cx="3338026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Database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MySQL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304597" y="2769778"/>
            <a:ext cx="3338026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Web Server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Laragon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6979193"/>
            <a:ext cx="4791717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Editor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Visual Studio Code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70116" y="6979193"/>
            <a:ext cx="4987309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Database Management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HeidiSQL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96109" y="6534150"/>
            <a:ext cx="2897841" cy="4114800"/>
          </a:xfrm>
          <a:custGeom>
            <a:avLst/>
            <a:gdLst/>
            <a:ahLst/>
            <a:cxnLst/>
            <a:rect l="l" t="t" r="r" b="b"/>
            <a:pathLst>
              <a:path w="2897841" h="4114800">
                <a:moveTo>
                  <a:pt x="0" y="0"/>
                </a:moveTo>
                <a:lnTo>
                  <a:pt x="2897841" y="0"/>
                </a:lnTo>
                <a:lnTo>
                  <a:pt x="28978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1448921" y="-408622"/>
            <a:ext cx="2897841" cy="4114800"/>
          </a:xfrm>
          <a:custGeom>
            <a:avLst/>
            <a:gdLst/>
            <a:ahLst/>
            <a:cxnLst/>
            <a:rect l="l" t="t" r="r" b="b"/>
            <a:pathLst>
              <a:path w="2897841" h="4114800">
                <a:moveTo>
                  <a:pt x="289784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897842" y="0"/>
                </a:lnTo>
                <a:lnTo>
                  <a:pt x="289784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438169" y="1104900"/>
            <a:ext cx="5026685" cy="2653177"/>
          </a:xfrm>
          <a:custGeom>
            <a:avLst/>
            <a:gdLst/>
            <a:ahLst/>
            <a:cxnLst/>
            <a:rect l="l" t="t" r="r" b="b"/>
            <a:pathLst>
              <a:path w="5026685" h="2653177">
                <a:moveTo>
                  <a:pt x="0" y="0"/>
                </a:moveTo>
                <a:lnTo>
                  <a:pt x="5026685" y="0"/>
                </a:lnTo>
                <a:lnTo>
                  <a:pt x="5026685" y="2653177"/>
                </a:lnTo>
                <a:lnTo>
                  <a:pt x="0" y="2653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62870" y="4305300"/>
            <a:ext cx="4978200" cy="2623941"/>
          </a:xfrm>
          <a:custGeom>
            <a:avLst/>
            <a:gdLst/>
            <a:ahLst/>
            <a:cxnLst/>
            <a:rect l="l" t="t" r="r" b="b"/>
            <a:pathLst>
              <a:path w="4978200" h="2623941">
                <a:moveTo>
                  <a:pt x="0" y="0"/>
                </a:moveTo>
                <a:lnTo>
                  <a:pt x="4978200" y="0"/>
                </a:lnTo>
                <a:lnTo>
                  <a:pt x="4978200" y="2623941"/>
                </a:lnTo>
                <a:lnTo>
                  <a:pt x="0" y="26239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6" name="Freeform 6"/>
          <p:cNvSpPr/>
          <p:nvPr/>
        </p:nvSpPr>
        <p:spPr>
          <a:xfrm>
            <a:off x="6028714" y="4305300"/>
            <a:ext cx="5012895" cy="2638559"/>
          </a:xfrm>
          <a:custGeom>
            <a:avLst/>
            <a:gdLst/>
            <a:ahLst/>
            <a:cxnLst/>
            <a:rect l="l" t="t" r="r" b="b"/>
            <a:pathLst>
              <a:path w="5012895" h="2638559">
                <a:moveTo>
                  <a:pt x="0" y="0"/>
                </a:moveTo>
                <a:lnTo>
                  <a:pt x="5012895" y="0"/>
                </a:lnTo>
                <a:lnTo>
                  <a:pt x="5012895" y="2638559"/>
                </a:lnTo>
                <a:lnTo>
                  <a:pt x="0" y="26385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431274" y="4326483"/>
            <a:ext cx="5026685" cy="2645817"/>
          </a:xfrm>
          <a:custGeom>
            <a:avLst/>
            <a:gdLst/>
            <a:ahLst/>
            <a:cxnLst/>
            <a:rect l="l" t="t" r="r" b="b"/>
            <a:pathLst>
              <a:path w="5026685" h="2645817">
                <a:moveTo>
                  <a:pt x="0" y="0"/>
                </a:moveTo>
                <a:lnTo>
                  <a:pt x="5026685" y="0"/>
                </a:lnTo>
                <a:lnTo>
                  <a:pt x="5026685" y="2645817"/>
                </a:lnTo>
                <a:lnTo>
                  <a:pt x="0" y="26458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8" name="Freeform 8"/>
          <p:cNvSpPr/>
          <p:nvPr/>
        </p:nvSpPr>
        <p:spPr>
          <a:xfrm>
            <a:off x="562870" y="7505700"/>
            <a:ext cx="4978200" cy="2620297"/>
          </a:xfrm>
          <a:custGeom>
            <a:avLst/>
            <a:gdLst/>
            <a:ahLst/>
            <a:cxnLst/>
            <a:rect l="l" t="t" r="r" b="b"/>
            <a:pathLst>
              <a:path w="4978200" h="2620297">
                <a:moveTo>
                  <a:pt x="0" y="0"/>
                </a:moveTo>
                <a:lnTo>
                  <a:pt x="4978200" y="0"/>
                </a:lnTo>
                <a:lnTo>
                  <a:pt x="4978200" y="2620297"/>
                </a:lnTo>
                <a:lnTo>
                  <a:pt x="0" y="26202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9" name="Freeform 9"/>
          <p:cNvSpPr/>
          <p:nvPr/>
        </p:nvSpPr>
        <p:spPr>
          <a:xfrm>
            <a:off x="6028714" y="7505700"/>
            <a:ext cx="5012895" cy="2623880"/>
          </a:xfrm>
          <a:custGeom>
            <a:avLst/>
            <a:gdLst/>
            <a:ahLst/>
            <a:cxnLst/>
            <a:rect l="l" t="t" r="r" b="b"/>
            <a:pathLst>
              <a:path w="5012895" h="2623880">
                <a:moveTo>
                  <a:pt x="0" y="0"/>
                </a:moveTo>
                <a:lnTo>
                  <a:pt x="5012895" y="0"/>
                </a:lnTo>
                <a:lnTo>
                  <a:pt x="5012895" y="2623880"/>
                </a:lnTo>
                <a:lnTo>
                  <a:pt x="0" y="26238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10" name="Freeform 10"/>
          <p:cNvSpPr/>
          <p:nvPr/>
        </p:nvSpPr>
        <p:spPr>
          <a:xfrm>
            <a:off x="11431274" y="7503567"/>
            <a:ext cx="4975173" cy="2604135"/>
          </a:xfrm>
          <a:custGeom>
            <a:avLst/>
            <a:gdLst/>
            <a:ahLst/>
            <a:cxnLst/>
            <a:rect l="l" t="t" r="r" b="b"/>
            <a:pathLst>
              <a:path w="4975173" h="2604135">
                <a:moveTo>
                  <a:pt x="0" y="0"/>
                </a:moveTo>
                <a:lnTo>
                  <a:pt x="4975173" y="0"/>
                </a:lnTo>
                <a:lnTo>
                  <a:pt x="4975173" y="2604135"/>
                </a:lnTo>
                <a:lnTo>
                  <a:pt x="0" y="26041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803187" y="174790"/>
            <a:ext cx="6942554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sz="7200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DEMO PEMBELI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F41384B0-A9CC-EA2A-EB48-D0DEC452D85E}"/>
              </a:ext>
            </a:extLst>
          </p:cNvPr>
          <p:cNvSpPr txBox="1"/>
          <p:nvPr/>
        </p:nvSpPr>
        <p:spPr>
          <a:xfrm>
            <a:off x="11277600" y="647700"/>
            <a:ext cx="1905000" cy="498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36331" lvl="1" indent="-318166" algn="l">
              <a:lnSpc>
                <a:spcPts val="4126"/>
              </a:lnSpc>
              <a:buAutoNum type="arabicPeriod"/>
            </a:pP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Home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34866E8C-8CD1-E237-03C2-17F8C0C35DD8}"/>
              </a:ext>
            </a:extLst>
          </p:cNvPr>
          <p:cNvSpPr txBox="1"/>
          <p:nvPr/>
        </p:nvSpPr>
        <p:spPr>
          <a:xfrm>
            <a:off x="304800" y="3771900"/>
            <a:ext cx="4978200" cy="494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18165" lvl="1" algn="l">
              <a:lnSpc>
                <a:spcPts val="4126"/>
              </a:lnSpc>
            </a:pP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2. Search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Produk</a:t>
            </a:r>
            <a:endParaRPr lang="en-US" sz="2947" dirty="0">
              <a:solidFill>
                <a:srgbClr val="ECF0F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D5B44131-A435-0C07-5566-4383E3ED9643}"/>
              </a:ext>
            </a:extLst>
          </p:cNvPr>
          <p:cNvSpPr txBox="1"/>
          <p:nvPr/>
        </p:nvSpPr>
        <p:spPr>
          <a:xfrm>
            <a:off x="5770644" y="3771900"/>
            <a:ext cx="4978200" cy="494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18165" lvl="1" algn="l">
              <a:lnSpc>
                <a:spcPts val="4126"/>
              </a:lnSpc>
            </a:pP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3. Cart</a:t>
            </a: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3DB38A8B-F404-BA79-7C28-DA5523B0CD03}"/>
              </a:ext>
            </a:extLst>
          </p:cNvPr>
          <p:cNvSpPr txBox="1"/>
          <p:nvPr/>
        </p:nvSpPr>
        <p:spPr>
          <a:xfrm>
            <a:off x="11218767" y="3811190"/>
            <a:ext cx="4978200" cy="494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18165" lvl="1" algn="l">
              <a:lnSpc>
                <a:spcPts val="4126"/>
              </a:lnSpc>
            </a:pP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4. Checkout</a:t>
            </a: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F77830ED-FE3A-F215-922F-4804CC0AAAA3}"/>
              </a:ext>
            </a:extLst>
          </p:cNvPr>
          <p:cNvSpPr txBox="1"/>
          <p:nvPr/>
        </p:nvSpPr>
        <p:spPr>
          <a:xfrm>
            <a:off x="296264" y="7009457"/>
            <a:ext cx="4978200" cy="489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18165" lvl="1" algn="l">
              <a:lnSpc>
                <a:spcPts val="4126"/>
              </a:lnSpc>
            </a:pPr>
            <a:r>
              <a:rPr lang="en-US" sz="2800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5. Upload Bukti </a:t>
            </a:r>
            <a:r>
              <a:rPr lang="en-US" sz="2800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Pembayaran</a:t>
            </a:r>
            <a:endParaRPr lang="en-US" sz="2800" dirty="0">
              <a:solidFill>
                <a:srgbClr val="ECF0F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3BD06ADA-2E13-5092-3676-1FFA4A248B8B}"/>
              </a:ext>
            </a:extLst>
          </p:cNvPr>
          <p:cNvSpPr txBox="1"/>
          <p:nvPr/>
        </p:nvSpPr>
        <p:spPr>
          <a:xfrm>
            <a:off x="5863769" y="7009457"/>
            <a:ext cx="4978200" cy="494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18165" lvl="1" algn="l">
              <a:lnSpc>
                <a:spcPts val="4126"/>
              </a:lnSpc>
            </a:pP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6. Tracking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Pesanan</a:t>
            </a:r>
            <a:endParaRPr lang="en-US" sz="2947" dirty="0">
              <a:solidFill>
                <a:srgbClr val="ECF0F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EEC360A4-796E-2688-E8F3-2E2E741769E8}"/>
              </a:ext>
            </a:extLst>
          </p:cNvPr>
          <p:cNvSpPr txBox="1"/>
          <p:nvPr/>
        </p:nvSpPr>
        <p:spPr>
          <a:xfrm>
            <a:off x="11250665" y="7009457"/>
            <a:ext cx="4978200" cy="494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18165" lvl="1" algn="l">
              <a:lnSpc>
                <a:spcPts val="4126"/>
              </a:lnSpc>
            </a:pP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7. Review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Produk</a:t>
            </a:r>
            <a:endParaRPr lang="en-US" sz="2947" dirty="0">
              <a:solidFill>
                <a:srgbClr val="ECF0F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80905" y="7505600"/>
            <a:ext cx="2396419" cy="3505400"/>
          </a:xfrm>
          <a:custGeom>
            <a:avLst/>
            <a:gdLst/>
            <a:ahLst/>
            <a:cxnLst/>
            <a:rect l="l" t="t" r="r" b="b"/>
            <a:pathLst>
              <a:path w="2396419" h="3505400">
                <a:moveTo>
                  <a:pt x="0" y="0"/>
                </a:moveTo>
                <a:lnTo>
                  <a:pt x="2396419" y="0"/>
                </a:lnTo>
                <a:lnTo>
                  <a:pt x="2396419" y="3505400"/>
                </a:lnTo>
                <a:lnTo>
                  <a:pt x="0" y="35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7019972" y="-531125"/>
            <a:ext cx="1771199" cy="2590850"/>
          </a:xfrm>
          <a:custGeom>
            <a:avLst/>
            <a:gdLst/>
            <a:ahLst/>
            <a:cxnLst/>
            <a:rect l="l" t="t" r="r" b="b"/>
            <a:pathLst>
              <a:path w="1771199" h="2590850">
                <a:moveTo>
                  <a:pt x="1771199" y="2590850"/>
                </a:moveTo>
                <a:lnTo>
                  <a:pt x="0" y="2590850"/>
                </a:lnTo>
                <a:lnTo>
                  <a:pt x="0" y="0"/>
                </a:lnTo>
                <a:lnTo>
                  <a:pt x="1771199" y="0"/>
                </a:lnTo>
                <a:lnTo>
                  <a:pt x="1771199" y="259085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00239" y="2898048"/>
            <a:ext cx="5378606" cy="2827520"/>
          </a:xfrm>
          <a:custGeom>
            <a:avLst/>
            <a:gdLst/>
            <a:ahLst/>
            <a:cxnLst/>
            <a:rect l="l" t="t" r="r" b="b"/>
            <a:pathLst>
              <a:path w="5378606" h="2827520">
                <a:moveTo>
                  <a:pt x="0" y="0"/>
                </a:moveTo>
                <a:lnTo>
                  <a:pt x="5378606" y="0"/>
                </a:lnTo>
                <a:lnTo>
                  <a:pt x="5378606" y="2827520"/>
                </a:lnTo>
                <a:lnTo>
                  <a:pt x="0" y="282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78619" y="2913071"/>
            <a:ext cx="5365740" cy="2812496"/>
          </a:xfrm>
          <a:custGeom>
            <a:avLst/>
            <a:gdLst/>
            <a:ahLst/>
            <a:cxnLst/>
            <a:rect l="l" t="t" r="r" b="b"/>
            <a:pathLst>
              <a:path w="5365740" h="2812496">
                <a:moveTo>
                  <a:pt x="0" y="0"/>
                </a:moveTo>
                <a:lnTo>
                  <a:pt x="5365740" y="0"/>
                </a:lnTo>
                <a:lnTo>
                  <a:pt x="5365740" y="2812497"/>
                </a:lnTo>
                <a:lnTo>
                  <a:pt x="0" y="28124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244409" y="2898048"/>
            <a:ext cx="5343352" cy="2812496"/>
          </a:xfrm>
          <a:custGeom>
            <a:avLst/>
            <a:gdLst/>
            <a:ahLst/>
            <a:cxnLst/>
            <a:rect l="l" t="t" r="r" b="b"/>
            <a:pathLst>
              <a:path w="5343352" h="2812496">
                <a:moveTo>
                  <a:pt x="0" y="0"/>
                </a:moveTo>
                <a:lnTo>
                  <a:pt x="5343352" y="0"/>
                </a:lnTo>
                <a:lnTo>
                  <a:pt x="5343352" y="2812496"/>
                </a:lnTo>
                <a:lnTo>
                  <a:pt x="0" y="28124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408047" y="7078393"/>
            <a:ext cx="7523844" cy="2290171"/>
          </a:xfrm>
          <a:custGeom>
            <a:avLst/>
            <a:gdLst/>
            <a:ahLst/>
            <a:cxnLst/>
            <a:rect l="l" t="t" r="r" b="b"/>
            <a:pathLst>
              <a:path w="7523844" h="2290171">
                <a:moveTo>
                  <a:pt x="0" y="0"/>
                </a:moveTo>
                <a:lnTo>
                  <a:pt x="7523844" y="0"/>
                </a:lnTo>
                <a:lnTo>
                  <a:pt x="7523844" y="2290170"/>
                </a:lnTo>
                <a:lnTo>
                  <a:pt x="0" y="22901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853974" y="7063227"/>
            <a:ext cx="5343352" cy="2804673"/>
          </a:xfrm>
          <a:custGeom>
            <a:avLst/>
            <a:gdLst/>
            <a:ahLst/>
            <a:cxnLst/>
            <a:rect l="l" t="t" r="r" b="b"/>
            <a:pathLst>
              <a:path w="5343352" h="2804673">
                <a:moveTo>
                  <a:pt x="0" y="0"/>
                </a:moveTo>
                <a:lnTo>
                  <a:pt x="5343351" y="0"/>
                </a:lnTo>
                <a:lnTo>
                  <a:pt x="5343351" y="2804672"/>
                </a:lnTo>
                <a:lnTo>
                  <a:pt x="0" y="28046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00239" y="630950"/>
            <a:ext cx="6942554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sz="7200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DEMO PENJUAL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8DD5D5-44A2-0572-C3F9-604225C5C250}"/>
              </a:ext>
            </a:extLst>
          </p:cNvPr>
          <p:cNvSpPr txBox="1"/>
          <p:nvPr/>
        </p:nvSpPr>
        <p:spPr>
          <a:xfrm>
            <a:off x="517304" y="2403938"/>
            <a:ext cx="4978200" cy="494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18165" lvl="1" algn="l">
              <a:lnSpc>
                <a:spcPts val="4126"/>
              </a:lnSpc>
            </a:pP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1. Dashboard Seller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AA43FA-FFCC-CB73-134E-2DB6975A1CD4}"/>
              </a:ext>
            </a:extLst>
          </p:cNvPr>
          <p:cNvSpPr txBox="1"/>
          <p:nvPr/>
        </p:nvSpPr>
        <p:spPr>
          <a:xfrm>
            <a:off x="6261780" y="2403938"/>
            <a:ext cx="4978200" cy="494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18165" lvl="1" algn="l">
              <a:lnSpc>
                <a:spcPts val="4126"/>
              </a:lnSpc>
            </a:pP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2.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Tambah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Produk</a:t>
            </a:r>
            <a:endParaRPr lang="en-US" sz="2947" dirty="0">
              <a:solidFill>
                <a:srgbClr val="ECF0F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4A03B4-E871-9889-568C-C3A9DD937834}"/>
              </a:ext>
            </a:extLst>
          </p:cNvPr>
          <p:cNvSpPr txBox="1"/>
          <p:nvPr/>
        </p:nvSpPr>
        <p:spPr>
          <a:xfrm>
            <a:off x="12066581" y="2403938"/>
            <a:ext cx="4978200" cy="494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18165" lvl="1" algn="l">
              <a:lnSpc>
                <a:spcPts val="4126"/>
              </a:lnSpc>
            </a:pP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3. Edit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Produk</a:t>
            </a:r>
            <a:endParaRPr lang="en-US" sz="2947" dirty="0">
              <a:solidFill>
                <a:srgbClr val="ECF0F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EB196C-FE5F-5606-BE1D-5C832EE4CC61}"/>
              </a:ext>
            </a:extLst>
          </p:cNvPr>
          <p:cNvSpPr txBox="1"/>
          <p:nvPr/>
        </p:nvSpPr>
        <p:spPr>
          <a:xfrm>
            <a:off x="2408047" y="6584283"/>
            <a:ext cx="4978200" cy="494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18165" lvl="1" algn="l">
              <a:lnSpc>
                <a:spcPts val="4126"/>
              </a:lnSpc>
            </a:pP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4. Hapus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Produk</a:t>
            </a:r>
            <a:endParaRPr lang="en-US" sz="2947" dirty="0">
              <a:solidFill>
                <a:srgbClr val="ECF0F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D3EAA0-47F5-3C48-0E20-F0F326A1C058}"/>
              </a:ext>
            </a:extLst>
          </p:cNvPr>
          <p:cNvSpPr txBox="1"/>
          <p:nvPr/>
        </p:nvSpPr>
        <p:spPr>
          <a:xfrm>
            <a:off x="10668000" y="6584283"/>
            <a:ext cx="4978200" cy="494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18165" lvl="1" algn="l">
              <a:lnSpc>
                <a:spcPts val="4126"/>
              </a:lnSpc>
            </a:pP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5. Kelola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Pesanan</a:t>
            </a:r>
            <a:endParaRPr lang="en-US" sz="2947" dirty="0">
              <a:solidFill>
                <a:srgbClr val="ECF0F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39079" y="6534150"/>
            <a:ext cx="2897841" cy="4114800"/>
          </a:xfrm>
          <a:custGeom>
            <a:avLst/>
            <a:gdLst/>
            <a:ahLst/>
            <a:cxnLst/>
            <a:rect l="l" t="t" r="r" b="b"/>
            <a:pathLst>
              <a:path w="2897841" h="4114800">
                <a:moveTo>
                  <a:pt x="0" y="0"/>
                </a:moveTo>
                <a:lnTo>
                  <a:pt x="2897842" y="0"/>
                </a:lnTo>
                <a:lnTo>
                  <a:pt x="28978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1448921" y="-325196"/>
            <a:ext cx="2897841" cy="4114800"/>
          </a:xfrm>
          <a:custGeom>
            <a:avLst/>
            <a:gdLst/>
            <a:ahLst/>
            <a:cxnLst/>
            <a:rect l="l" t="t" r="r" b="b"/>
            <a:pathLst>
              <a:path w="2897841" h="4114800">
                <a:moveTo>
                  <a:pt x="289784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897842" y="0"/>
                </a:lnTo>
                <a:lnTo>
                  <a:pt x="289784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69079" y="2778256"/>
            <a:ext cx="6094056" cy="3189788"/>
          </a:xfrm>
          <a:custGeom>
            <a:avLst/>
            <a:gdLst/>
            <a:ahLst/>
            <a:cxnLst/>
            <a:rect l="l" t="t" r="r" b="b"/>
            <a:pathLst>
              <a:path w="6094056" h="3189788">
                <a:moveTo>
                  <a:pt x="0" y="0"/>
                </a:moveTo>
                <a:lnTo>
                  <a:pt x="6094057" y="0"/>
                </a:lnTo>
                <a:lnTo>
                  <a:pt x="6094057" y="3189788"/>
                </a:lnTo>
                <a:lnTo>
                  <a:pt x="0" y="3189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461899" y="2778256"/>
            <a:ext cx="6094056" cy="3189788"/>
          </a:xfrm>
          <a:custGeom>
            <a:avLst/>
            <a:gdLst/>
            <a:ahLst/>
            <a:cxnLst/>
            <a:rect l="l" t="t" r="r" b="b"/>
            <a:pathLst>
              <a:path w="6094056" h="3189788">
                <a:moveTo>
                  <a:pt x="0" y="0"/>
                </a:moveTo>
                <a:lnTo>
                  <a:pt x="6094056" y="0"/>
                </a:lnTo>
                <a:lnTo>
                  <a:pt x="6094056" y="3189788"/>
                </a:lnTo>
                <a:lnTo>
                  <a:pt x="0" y="3189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288809" y="6862714"/>
            <a:ext cx="5849528" cy="3010409"/>
          </a:xfrm>
          <a:custGeom>
            <a:avLst/>
            <a:gdLst/>
            <a:ahLst/>
            <a:cxnLst/>
            <a:rect l="l" t="t" r="r" b="b"/>
            <a:pathLst>
              <a:path w="5849528" h="3010409">
                <a:moveTo>
                  <a:pt x="0" y="0"/>
                </a:moveTo>
                <a:lnTo>
                  <a:pt x="5849528" y="0"/>
                </a:lnTo>
                <a:lnTo>
                  <a:pt x="5849528" y="3010409"/>
                </a:lnTo>
                <a:lnTo>
                  <a:pt x="0" y="30104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461899" y="6862714"/>
            <a:ext cx="5727323" cy="3010409"/>
          </a:xfrm>
          <a:custGeom>
            <a:avLst/>
            <a:gdLst/>
            <a:ahLst/>
            <a:cxnLst/>
            <a:rect l="l" t="t" r="r" b="b"/>
            <a:pathLst>
              <a:path w="5727323" h="3010409">
                <a:moveTo>
                  <a:pt x="0" y="0"/>
                </a:moveTo>
                <a:lnTo>
                  <a:pt x="5727323" y="0"/>
                </a:lnTo>
                <a:lnTo>
                  <a:pt x="5727323" y="3010409"/>
                </a:lnTo>
                <a:lnTo>
                  <a:pt x="0" y="30104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951180" y="505384"/>
            <a:ext cx="12900413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sz="7200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DEMO SYSTEM AUTOMATION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51180" y="2237684"/>
            <a:ext cx="4543682" cy="540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331" lvl="1" indent="-318166" algn="l">
              <a:lnSpc>
                <a:spcPts val="4126"/>
              </a:lnSpc>
              <a:buAutoNum type="arabicPeriod"/>
            </a:pP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Perhitungan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ongkir</a:t>
            </a:r>
            <a:endParaRPr lang="en-US" sz="2947" dirty="0">
              <a:solidFill>
                <a:srgbClr val="ECF0F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286604" y="2237684"/>
            <a:ext cx="4543682" cy="494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8165" lvl="1" algn="l">
              <a:lnSpc>
                <a:spcPts val="4126"/>
              </a:lnSpc>
            </a:pP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2. Generate Invoice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51180" y="6322142"/>
            <a:ext cx="5102761" cy="494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8165" lvl="1" algn="l">
              <a:lnSpc>
                <a:spcPts val="4126"/>
              </a:lnSpc>
            </a:pP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3. Update Status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Pesanan</a:t>
            </a:r>
            <a:endParaRPr lang="en-US" sz="2947" dirty="0">
              <a:solidFill>
                <a:srgbClr val="ECF0F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286604" y="6322142"/>
            <a:ext cx="4543682" cy="494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8165" lvl="1" algn="l">
              <a:lnSpc>
                <a:spcPts val="4126"/>
              </a:lnSpc>
            </a:pP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4. Email Log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9509" y="7033186"/>
            <a:ext cx="2396419" cy="3505400"/>
          </a:xfrm>
          <a:custGeom>
            <a:avLst/>
            <a:gdLst/>
            <a:ahLst/>
            <a:cxnLst/>
            <a:rect l="l" t="t" r="r" b="b"/>
            <a:pathLst>
              <a:path w="2396419" h="3505400">
                <a:moveTo>
                  <a:pt x="0" y="0"/>
                </a:moveTo>
                <a:lnTo>
                  <a:pt x="2396418" y="0"/>
                </a:lnTo>
                <a:lnTo>
                  <a:pt x="2396418" y="3505400"/>
                </a:lnTo>
                <a:lnTo>
                  <a:pt x="0" y="35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5891581" y="0"/>
            <a:ext cx="2396419" cy="3505400"/>
          </a:xfrm>
          <a:custGeom>
            <a:avLst/>
            <a:gdLst/>
            <a:ahLst/>
            <a:cxnLst/>
            <a:rect l="l" t="t" r="r" b="b"/>
            <a:pathLst>
              <a:path w="2396419" h="3505400">
                <a:moveTo>
                  <a:pt x="2396419" y="3505400"/>
                </a:moveTo>
                <a:lnTo>
                  <a:pt x="0" y="3505400"/>
                </a:lnTo>
                <a:lnTo>
                  <a:pt x="0" y="0"/>
                </a:lnTo>
                <a:lnTo>
                  <a:pt x="2396419" y="0"/>
                </a:lnTo>
                <a:lnTo>
                  <a:pt x="2396419" y="35054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1641" y="2247900"/>
            <a:ext cx="6830349" cy="3600184"/>
          </a:xfrm>
          <a:custGeom>
            <a:avLst/>
            <a:gdLst/>
            <a:ahLst/>
            <a:cxnLst/>
            <a:rect l="l" t="t" r="r" b="b"/>
            <a:pathLst>
              <a:path w="6830349" h="3600184">
                <a:moveTo>
                  <a:pt x="0" y="0"/>
                </a:moveTo>
                <a:lnTo>
                  <a:pt x="6830349" y="0"/>
                </a:lnTo>
                <a:lnTo>
                  <a:pt x="6830349" y="3600184"/>
                </a:lnTo>
                <a:lnTo>
                  <a:pt x="0" y="36001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5" name="Freeform 5"/>
          <p:cNvSpPr/>
          <p:nvPr/>
        </p:nvSpPr>
        <p:spPr>
          <a:xfrm>
            <a:off x="9048827" y="2247900"/>
            <a:ext cx="6842754" cy="3601355"/>
          </a:xfrm>
          <a:custGeom>
            <a:avLst/>
            <a:gdLst/>
            <a:ahLst/>
            <a:cxnLst/>
            <a:rect l="l" t="t" r="r" b="b"/>
            <a:pathLst>
              <a:path w="6718502" h="3546149">
                <a:moveTo>
                  <a:pt x="0" y="0"/>
                </a:moveTo>
                <a:lnTo>
                  <a:pt x="6718502" y="0"/>
                </a:lnTo>
                <a:lnTo>
                  <a:pt x="6718502" y="3546149"/>
                </a:lnTo>
                <a:lnTo>
                  <a:pt x="0" y="35461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6" name="Freeform 6"/>
          <p:cNvSpPr/>
          <p:nvPr/>
        </p:nvSpPr>
        <p:spPr>
          <a:xfrm>
            <a:off x="5333609" y="6582517"/>
            <a:ext cx="6830349" cy="3590183"/>
          </a:xfrm>
          <a:custGeom>
            <a:avLst/>
            <a:gdLst/>
            <a:ahLst/>
            <a:cxnLst/>
            <a:rect l="l" t="t" r="r" b="b"/>
            <a:pathLst>
              <a:path w="6830349" h="3590183">
                <a:moveTo>
                  <a:pt x="0" y="0"/>
                </a:moveTo>
                <a:lnTo>
                  <a:pt x="6830349" y="0"/>
                </a:lnTo>
                <a:lnTo>
                  <a:pt x="6830349" y="3590183"/>
                </a:lnTo>
                <a:lnTo>
                  <a:pt x="0" y="35901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80286" y="335280"/>
            <a:ext cx="6112911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sz="7200" dirty="0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DEMO ADMIN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4C2816-9C29-D585-913E-F5E472163D26}"/>
              </a:ext>
            </a:extLst>
          </p:cNvPr>
          <p:cNvSpPr txBox="1"/>
          <p:nvPr/>
        </p:nvSpPr>
        <p:spPr>
          <a:xfrm>
            <a:off x="1659236" y="1753790"/>
            <a:ext cx="4978200" cy="494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18165" lvl="1" algn="l">
              <a:lnSpc>
                <a:spcPts val="4126"/>
              </a:lnSpc>
            </a:pP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1. Dashboard Admin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7D2BE6-54BF-8353-374C-341C7BBAF46D}"/>
              </a:ext>
            </a:extLst>
          </p:cNvPr>
          <p:cNvSpPr txBox="1"/>
          <p:nvPr/>
        </p:nvSpPr>
        <p:spPr>
          <a:xfrm>
            <a:off x="9048827" y="1714500"/>
            <a:ext cx="4978200" cy="494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18165" lvl="1" algn="l">
              <a:lnSpc>
                <a:spcPts val="4126"/>
              </a:lnSpc>
            </a:pP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2. Manage User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0F9767-7D52-2633-B29F-4186583F1F26}"/>
              </a:ext>
            </a:extLst>
          </p:cNvPr>
          <p:cNvSpPr txBox="1"/>
          <p:nvPr/>
        </p:nvSpPr>
        <p:spPr>
          <a:xfrm>
            <a:off x="5333609" y="6057900"/>
            <a:ext cx="4978200" cy="494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18165" lvl="1" algn="l">
              <a:lnSpc>
                <a:spcPts val="4126"/>
              </a:lnSpc>
            </a:pP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3. System Settings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04013" y="3255216"/>
            <a:ext cx="6760914" cy="4828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 dirty="0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Digital Zone </a:t>
            </a:r>
            <a:r>
              <a:rPr lang="en-US" sz="3399" b="1" dirty="0" err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telah</a:t>
            </a:r>
            <a:r>
              <a:rPr lang="en-US" sz="3399" b="1" dirty="0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sz="3399" b="1" dirty="0" err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menerapkan</a:t>
            </a:r>
            <a:r>
              <a:rPr lang="en-US" sz="3399" b="1" dirty="0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: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Password Hashing (</a:t>
            </a:r>
            <a:r>
              <a:rPr lang="en-US" sz="3399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bcrypt</a:t>
            </a:r>
            <a:r>
              <a:rPr lang="en-US" sz="3399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)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SQL Injection Prevention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XSS Prevention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Session Management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Role Authorization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Upload Validation</a:t>
            </a:r>
          </a:p>
          <a:p>
            <a:pPr algn="just">
              <a:lnSpc>
                <a:spcPts val="4759"/>
              </a:lnSpc>
            </a:pPr>
            <a:endParaRPr lang="en-US" sz="3399" dirty="0">
              <a:solidFill>
                <a:srgbClr val="ECF0F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727193" y="-858385"/>
            <a:ext cx="4300404" cy="2768666"/>
          </a:xfrm>
          <a:custGeom>
            <a:avLst/>
            <a:gdLst/>
            <a:ahLst/>
            <a:cxnLst/>
            <a:rect l="l" t="t" r="r" b="b"/>
            <a:pathLst>
              <a:path w="4300404" h="2768666">
                <a:moveTo>
                  <a:pt x="0" y="0"/>
                </a:moveTo>
                <a:lnTo>
                  <a:pt x="4300404" y="0"/>
                </a:lnTo>
                <a:lnTo>
                  <a:pt x="4300404" y="2768666"/>
                </a:lnTo>
                <a:lnTo>
                  <a:pt x="0" y="2768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8903479"/>
            <a:ext cx="2408026" cy="1383521"/>
          </a:xfrm>
          <a:custGeom>
            <a:avLst/>
            <a:gdLst/>
            <a:ahLst/>
            <a:cxnLst/>
            <a:rect l="l" t="t" r="r" b="b"/>
            <a:pathLst>
              <a:path w="2408026" h="1383521">
                <a:moveTo>
                  <a:pt x="0" y="0"/>
                </a:moveTo>
                <a:lnTo>
                  <a:pt x="2408026" y="0"/>
                </a:lnTo>
                <a:lnTo>
                  <a:pt x="2408026" y="1383521"/>
                </a:lnTo>
                <a:lnTo>
                  <a:pt x="0" y="13835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492421" y="8439507"/>
            <a:ext cx="4300404" cy="2768666"/>
          </a:xfrm>
          <a:custGeom>
            <a:avLst/>
            <a:gdLst/>
            <a:ahLst/>
            <a:cxnLst/>
            <a:rect l="l" t="t" r="r" b="b"/>
            <a:pathLst>
              <a:path w="4300404" h="2768666">
                <a:moveTo>
                  <a:pt x="4300404" y="2768666"/>
                </a:moveTo>
                <a:lnTo>
                  <a:pt x="0" y="2768666"/>
                </a:lnTo>
                <a:lnTo>
                  <a:pt x="0" y="0"/>
                </a:lnTo>
                <a:lnTo>
                  <a:pt x="4300404" y="0"/>
                </a:lnTo>
                <a:lnTo>
                  <a:pt x="4300404" y="27686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5879974" y="0"/>
            <a:ext cx="2408026" cy="1383521"/>
          </a:xfrm>
          <a:custGeom>
            <a:avLst/>
            <a:gdLst/>
            <a:ahLst/>
            <a:cxnLst/>
            <a:rect l="l" t="t" r="r" b="b"/>
            <a:pathLst>
              <a:path w="2408026" h="1383521">
                <a:moveTo>
                  <a:pt x="2408026" y="1383521"/>
                </a:moveTo>
                <a:lnTo>
                  <a:pt x="0" y="1383521"/>
                </a:lnTo>
                <a:lnTo>
                  <a:pt x="0" y="0"/>
                </a:lnTo>
                <a:lnTo>
                  <a:pt x="2408026" y="0"/>
                </a:lnTo>
                <a:lnTo>
                  <a:pt x="2408026" y="13835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408026" y="1208674"/>
            <a:ext cx="9271708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sz="7200" dirty="0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SECURITY FEATURES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19B31F-A4CA-DD56-5A09-0EE8A3CB58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3433745"/>
            <a:ext cx="8943162" cy="47007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6163" y="6534150"/>
            <a:ext cx="2897841" cy="4114800"/>
          </a:xfrm>
          <a:custGeom>
            <a:avLst/>
            <a:gdLst/>
            <a:ahLst/>
            <a:cxnLst/>
            <a:rect l="l" t="t" r="r" b="b"/>
            <a:pathLst>
              <a:path w="2897841" h="4114800">
                <a:moveTo>
                  <a:pt x="0" y="0"/>
                </a:moveTo>
                <a:lnTo>
                  <a:pt x="2897842" y="0"/>
                </a:lnTo>
                <a:lnTo>
                  <a:pt x="28978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86628" y="3126120"/>
            <a:ext cx="4420205" cy="4828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Functional Testing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Login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Register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CRUD Produk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Checkout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Review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Dashboard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Pembayaran</a:t>
            </a:r>
          </a:p>
        </p:txBody>
      </p:sp>
      <p:sp>
        <p:nvSpPr>
          <p:cNvPr id="4" name="Freeform 4"/>
          <p:cNvSpPr/>
          <p:nvPr/>
        </p:nvSpPr>
        <p:spPr>
          <a:xfrm flipH="1" flipV="1">
            <a:off x="-1218554" y="-408622"/>
            <a:ext cx="2897841" cy="4114800"/>
          </a:xfrm>
          <a:custGeom>
            <a:avLst/>
            <a:gdLst/>
            <a:ahLst/>
            <a:cxnLst/>
            <a:rect l="l" t="t" r="r" b="b"/>
            <a:pathLst>
              <a:path w="2897841" h="4114800">
                <a:moveTo>
                  <a:pt x="289784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897841" y="0"/>
                </a:lnTo>
                <a:lnTo>
                  <a:pt x="289784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118904" y="895350"/>
            <a:ext cx="3988411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sz="7200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TESTING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11724" y="3126120"/>
            <a:ext cx="4420205" cy="302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Security Testing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SQL Injection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Password Hash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Session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Authorization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19887" y="2853173"/>
            <a:ext cx="6498752" cy="4228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Kendala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Konfigurasi AJAX Cart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Upload Bukti Pembayaran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Session Multi Role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Relasi Database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Tampilan Responsive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Review Produk Multi Item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6781600"/>
            <a:ext cx="2396419" cy="3505400"/>
          </a:xfrm>
          <a:custGeom>
            <a:avLst/>
            <a:gdLst/>
            <a:ahLst/>
            <a:cxnLst/>
            <a:rect l="l" t="t" r="r" b="b"/>
            <a:pathLst>
              <a:path w="2396419" h="3505400">
                <a:moveTo>
                  <a:pt x="0" y="0"/>
                </a:moveTo>
                <a:lnTo>
                  <a:pt x="2396419" y="0"/>
                </a:lnTo>
                <a:lnTo>
                  <a:pt x="2396419" y="3505400"/>
                </a:lnTo>
                <a:lnTo>
                  <a:pt x="0" y="35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6516801" y="0"/>
            <a:ext cx="1771199" cy="2590850"/>
          </a:xfrm>
          <a:custGeom>
            <a:avLst/>
            <a:gdLst/>
            <a:ahLst/>
            <a:cxnLst/>
            <a:rect l="l" t="t" r="r" b="b"/>
            <a:pathLst>
              <a:path w="1771199" h="2590850">
                <a:moveTo>
                  <a:pt x="1771199" y="2590850"/>
                </a:moveTo>
                <a:lnTo>
                  <a:pt x="0" y="2590850"/>
                </a:lnTo>
                <a:lnTo>
                  <a:pt x="0" y="0"/>
                </a:lnTo>
                <a:lnTo>
                  <a:pt x="1771199" y="0"/>
                </a:lnTo>
                <a:lnTo>
                  <a:pt x="1771199" y="259085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98209" y="895350"/>
            <a:ext cx="8488997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sz="7200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KENDALA &amp; SOLUSI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23992" y="2853173"/>
            <a:ext cx="7835308" cy="362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Solusi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Menggunakan Controller terpisah.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Memperbaiki validasi upload.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Menggunakan helper Session.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Memanfaatkan Foreign Key.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Menyesuaikan Bootstrap 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85897" y="2592945"/>
            <a:ext cx="13463721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Digital Zone berhasil dikembangkan sebagai aplikasi e-commerce elektronik berbasis web menggunakan PHP Native dan MySQL.</a:t>
            </a:r>
          </a:p>
        </p:txBody>
      </p:sp>
      <p:sp>
        <p:nvSpPr>
          <p:cNvPr id="3" name="Freeform 3"/>
          <p:cNvSpPr/>
          <p:nvPr/>
        </p:nvSpPr>
        <p:spPr>
          <a:xfrm>
            <a:off x="-727193" y="-858385"/>
            <a:ext cx="4300404" cy="2768666"/>
          </a:xfrm>
          <a:custGeom>
            <a:avLst/>
            <a:gdLst/>
            <a:ahLst/>
            <a:cxnLst/>
            <a:rect l="l" t="t" r="r" b="b"/>
            <a:pathLst>
              <a:path w="4300404" h="2768666">
                <a:moveTo>
                  <a:pt x="0" y="0"/>
                </a:moveTo>
                <a:lnTo>
                  <a:pt x="4300404" y="0"/>
                </a:lnTo>
                <a:lnTo>
                  <a:pt x="4300404" y="2768666"/>
                </a:lnTo>
                <a:lnTo>
                  <a:pt x="0" y="2768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8903479"/>
            <a:ext cx="2408026" cy="1383521"/>
          </a:xfrm>
          <a:custGeom>
            <a:avLst/>
            <a:gdLst/>
            <a:ahLst/>
            <a:cxnLst/>
            <a:rect l="l" t="t" r="r" b="b"/>
            <a:pathLst>
              <a:path w="2408026" h="1383521">
                <a:moveTo>
                  <a:pt x="0" y="0"/>
                </a:moveTo>
                <a:lnTo>
                  <a:pt x="2408026" y="0"/>
                </a:lnTo>
                <a:lnTo>
                  <a:pt x="2408026" y="1383521"/>
                </a:lnTo>
                <a:lnTo>
                  <a:pt x="0" y="13835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492421" y="8439507"/>
            <a:ext cx="4300404" cy="2768666"/>
          </a:xfrm>
          <a:custGeom>
            <a:avLst/>
            <a:gdLst/>
            <a:ahLst/>
            <a:cxnLst/>
            <a:rect l="l" t="t" r="r" b="b"/>
            <a:pathLst>
              <a:path w="4300404" h="2768666">
                <a:moveTo>
                  <a:pt x="4300404" y="2768666"/>
                </a:moveTo>
                <a:lnTo>
                  <a:pt x="0" y="2768666"/>
                </a:lnTo>
                <a:lnTo>
                  <a:pt x="0" y="0"/>
                </a:lnTo>
                <a:lnTo>
                  <a:pt x="4300404" y="0"/>
                </a:lnTo>
                <a:lnTo>
                  <a:pt x="4300404" y="27686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5879974" y="0"/>
            <a:ext cx="2408026" cy="1383521"/>
          </a:xfrm>
          <a:custGeom>
            <a:avLst/>
            <a:gdLst/>
            <a:ahLst/>
            <a:cxnLst/>
            <a:rect l="l" t="t" r="r" b="b"/>
            <a:pathLst>
              <a:path w="2408026" h="1383521">
                <a:moveTo>
                  <a:pt x="2408026" y="1383521"/>
                </a:moveTo>
                <a:lnTo>
                  <a:pt x="0" y="1383521"/>
                </a:lnTo>
                <a:lnTo>
                  <a:pt x="0" y="0"/>
                </a:lnTo>
                <a:lnTo>
                  <a:pt x="2408026" y="0"/>
                </a:lnTo>
                <a:lnTo>
                  <a:pt x="2408026" y="13835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85897" y="1230196"/>
            <a:ext cx="6001095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sz="7200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KESIMPULAN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85897" y="4074939"/>
            <a:ext cx="5248790" cy="4828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Fitur utama seperti: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Multi Role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CRUD Produk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Checkout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Pembayaran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Dashboard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Review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Sistem Garansi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5143" y="3580265"/>
            <a:ext cx="9417713" cy="345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71"/>
              </a:lnSpc>
            </a:pPr>
            <a:r>
              <a:rPr lang="en-US" sz="13824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-727193" y="-858385"/>
            <a:ext cx="6391275" cy="4114800"/>
          </a:xfrm>
          <a:custGeom>
            <a:avLst/>
            <a:gdLst/>
            <a:ahLst/>
            <a:cxnLst/>
            <a:rect l="l" t="t" r="r" b="b"/>
            <a:pathLst>
              <a:path w="6391275" h="4114800">
                <a:moveTo>
                  <a:pt x="0" y="0"/>
                </a:moveTo>
                <a:lnTo>
                  <a:pt x="6391275" y="0"/>
                </a:lnTo>
                <a:lnTo>
                  <a:pt x="63912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639675" y="6645679"/>
            <a:ext cx="6391275" cy="4114800"/>
          </a:xfrm>
          <a:custGeom>
            <a:avLst/>
            <a:gdLst/>
            <a:ahLst/>
            <a:cxnLst/>
            <a:rect l="l" t="t" r="r" b="b"/>
            <a:pathLst>
              <a:path w="6391275" h="4114800">
                <a:moveTo>
                  <a:pt x="63912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391275" y="0"/>
                </a:lnTo>
                <a:lnTo>
                  <a:pt x="6391275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8024555"/>
            <a:ext cx="3937799" cy="2262445"/>
          </a:xfrm>
          <a:custGeom>
            <a:avLst/>
            <a:gdLst/>
            <a:ahLst/>
            <a:cxnLst/>
            <a:rect l="l" t="t" r="r" b="b"/>
            <a:pathLst>
              <a:path w="3937799" h="2262445">
                <a:moveTo>
                  <a:pt x="0" y="0"/>
                </a:moveTo>
                <a:lnTo>
                  <a:pt x="3937799" y="0"/>
                </a:lnTo>
                <a:lnTo>
                  <a:pt x="3937799" y="2262445"/>
                </a:lnTo>
                <a:lnTo>
                  <a:pt x="0" y="22624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50201" y="0"/>
            <a:ext cx="3937799" cy="2262445"/>
          </a:xfrm>
          <a:custGeom>
            <a:avLst/>
            <a:gdLst/>
            <a:ahLst/>
            <a:cxnLst/>
            <a:rect l="l" t="t" r="r" b="b"/>
            <a:pathLst>
              <a:path w="3937799" h="2262445">
                <a:moveTo>
                  <a:pt x="3937799" y="2262445"/>
                </a:moveTo>
                <a:lnTo>
                  <a:pt x="0" y="2262445"/>
                </a:lnTo>
                <a:lnTo>
                  <a:pt x="0" y="0"/>
                </a:lnTo>
                <a:lnTo>
                  <a:pt x="3937799" y="0"/>
                </a:lnTo>
                <a:lnTo>
                  <a:pt x="3937799" y="226244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480</Words>
  <Application>Microsoft Office PowerPoint</Application>
  <PresentationFormat>Custom</PresentationFormat>
  <Paragraphs>165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Telegraf Bold</vt:lpstr>
      <vt:lpstr>Calibri</vt:lpstr>
      <vt:lpstr>Telegraf</vt:lpstr>
      <vt:lpstr>Arial</vt:lpstr>
      <vt:lpstr>Calistoga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zone</dc:title>
  <cp:lastModifiedBy>Imanuel Melandri Manik</cp:lastModifiedBy>
  <cp:revision>12</cp:revision>
  <dcterms:created xsi:type="dcterms:W3CDTF">2006-08-16T00:00:00Z</dcterms:created>
  <dcterms:modified xsi:type="dcterms:W3CDTF">2026-07-15T13:29:41Z</dcterms:modified>
  <dc:identifier>DAHO20PmcKI</dc:identifier>
</cp:coreProperties>
</file>